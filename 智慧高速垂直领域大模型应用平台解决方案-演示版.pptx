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9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.svg" ContentType="image/svg+xml"/>
  <Override PartName="/ppt/media/image70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6.sv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6.svg"/><Relationship Id="rId11" Type="http://schemas.openxmlformats.org/officeDocument/2006/relationships/image" Target="../media/image45.png"/><Relationship Id="rId10" Type="http://schemas.openxmlformats.org/officeDocument/2006/relationships/image" Target="../media/image44.sv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9.png"/><Relationship Id="rId7" Type="http://schemas.openxmlformats.org/officeDocument/2006/relationships/image" Target="../media/image48.svg"/><Relationship Id="rId6" Type="http://schemas.openxmlformats.org/officeDocument/2006/relationships/image" Target="../media/image47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svg"/><Relationship Id="rId8" Type="http://schemas.openxmlformats.org/officeDocument/2006/relationships/image" Target="../media/image35.png"/><Relationship Id="rId7" Type="http://schemas.openxmlformats.org/officeDocument/2006/relationships/image" Target="../media/image55.svg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7.svg"/><Relationship Id="rId10" Type="http://schemas.openxmlformats.org/officeDocument/2006/relationships/image" Target="../media/image56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png"/><Relationship Id="rId8" Type="http://schemas.openxmlformats.org/officeDocument/2006/relationships/image" Target="../media/image44.svg"/><Relationship Id="rId7" Type="http://schemas.openxmlformats.org/officeDocument/2006/relationships/image" Target="../media/image43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Relationship Id="rId3" Type="http://schemas.openxmlformats.org/officeDocument/2006/relationships/image" Target="../media/image59.png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36.svg"/><Relationship Id="rId21" Type="http://schemas.openxmlformats.org/officeDocument/2006/relationships/image" Target="../media/image35.png"/><Relationship Id="rId20" Type="http://schemas.openxmlformats.org/officeDocument/2006/relationships/image" Target="../media/image70.svg"/><Relationship Id="rId2" Type="http://schemas.openxmlformats.org/officeDocument/2006/relationships/image" Target="../media/image58.png"/><Relationship Id="rId19" Type="http://schemas.openxmlformats.org/officeDocument/2006/relationships/image" Target="../media/image69.png"/><Relationship Id="rId18" Type="http://schemas.openxmlformats.org/officeDocument/2006/relationships/image" Target="../media/image27.svg"/><Relationship Id="rId17" Type="http://schemas.openxmlformats.org/officeDocument/2006/relationships/image" Target="../media/image26.png"/><Relationship Id="rId16" Type="http://schemas.openxmlformats.org/officeDocument/2006/relationships/image" Target="../media/image68.svg"/><Relationship Id="rId15" Type="http://schemas.openxmlformats.org/officeDocument/2006/relationships/image" Target="../media/image67.png"/><Relationship Id="rId14" Type="http://schemas.openxmlformats.org/officeDocument/2006/relationships/image" Target="../media/image48.svg"/><Relationship Id="rId13" Type="http://schemas.openxmlformats.org/officeDocument/2006/relationships/image" Target="../media/image47.png"/><Relationship Id="rId12" Type="http://schemas.openxmlformats.org/officeDocument/2006/relationships/image" Target="../media/image66.svg"/><Relationship Id="rId11" Type="http://schemas.openxmlformats.org/officeDocument/2006/relationships/image" Target="../media/image65.png"/><Relationship Id="rId10" Type="http://schemas.openxmlformats.org/officeDocument/2006/relationships/image" Target="../media/image64.sv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svg"/><Relationship Id="rId7" Type="http://schemas.openxmlformats.org/officeDocument/2006/relationships/image" Target="../media/image76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81.svg"/><Relationship Id="rId11" Type="http://schemas.openxmlformats.org/officeDocument/2006/relationships/image" Target="../media/image80.png"/><Relationship Id="rId10" Type="http://schemas.openxmlformats.org/officeDocument/2006/relationships/image" Target="../media/image79.sv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2.jpe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svg"/><Relationship Id="rId8" Type="http://schemas.openxmlformats.org/officeDocument/2006/relationships/image" Target="../media/image41.png"/><Relationship Id="rId7" Type="http://schemas.openxmlformats.org/officeDocument/2006/relationships/image" Target="../media/image88.svg"/><Relationship Id="rId6" Type="http://schemas.openxmlformats.org/officeDocument/2006/relationships/image" Target="../media/image87.png"/><Relationship Id="rId5" Type="http://schemas.openxmlformats.org/officeDocument/2006/relationships/image" Target="../media/image86.svg"/><Relationship Id="rId4" Type="http://schemas.openxmlformats.org/officeDocument/2006/relationships/image" Target="../media/image85.png"/><Relationship Id="rId3" Type="http://schemas.openxmlformats.org/officeDocument/2006/relationships/image" Target="../media/image84.svg"/><Relationship Id="rId2" Type="http://schemas.openxmlformats.org/officeDocument/2006/relationships/image" Target="../media/image83.png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20.jpe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128000" y="2286000"/>
            <a:ext cx="381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智慧高速</a:t>
            </a:r>
            <a:b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垂直领域</a:t>
            </a:r>
            <a:b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大模型应用平台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0" y="4699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0" y="5334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128000" y="565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2026年9月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203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项目背景与行业挑战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94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剖析智慧高速建设现状与坚实基础，洞察行业发展趋势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深度探讨当前业务面临的信息孤岛、效率瓶颈等核心痛点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1968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366000" y="203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解决方案总体设计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794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明确项目建设目标与核心价值，确立顶层设计理念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构建稳健灵活的系统总体技术架构，规划核心功能模块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4254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05000" y="431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核心功能深度解析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1016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080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构建专业高速行业知识库，实现多源数据智能调用与融合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打造智能问答交互体系，支持标准化文档自动生成与权限管控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06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4254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366000" y="431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实施与保障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6477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5080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制定清晰的项目里程碑规划与分阶段实施路线图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建立全面的风险评估与应对策略，开展项目综合效益分析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项目背景与行业挑战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48" r="48"/>
          <a:stretch>
            <a:fillRect/>
          </a:stretch>
        </p:blipFill>
        <p:spPr>
          <a:xfrm>
            <a:off x="762000" y="1778000"/>
            <a:ext cx="4572000" cy="3048000"/>
          </a:xfrm>
          <a:prstGeom prst="roundRect">
            <a:avLst>
              <a:gd name="adj" fmla="val 5000"/>
            </a:avLst>
          </a:prstGeom>
          <a:noFill/>
          <a:ln w="254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270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依托现代化的基础设施与智能化的管控体系，智慧高速已构建起“全域感知、智能分析、科学决策、协同管控”的闭环能力，为大模型深度应用提供了坚实的现实基础与实践场景。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1778000"/>
            <a:ext cx="596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1968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477000" y="1930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成熟落地的两大核心产品体系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349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智能视觉分析实现全量车辆识别与异常行为监测，路网主动管控具备精准交通流预测与智能调度能力，形成“感知+决策”的双轮驱动。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15000" y="3238500"/>
            <a:ext cx="596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5500" y="3429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477000" y="33909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海量多源业务数据深度积累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810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汇聚ETC日均10万+交易、2000+路监控视频及全业务台账数据，覆盖路网基础、通行收费、设备运行等全维度，构建高质量模型训练样本库。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715000" y="4699000"/>
            <a:ext cx="596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5500" y="4889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477000" y="4851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全场景行业资料体系沉淀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沉淀5000+份、超10万页行业文档，覆盖政策法规、养护管理、应急处置、收费运营等全业务场景，形成完备的行业知识库支撑。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项目背景与行业挑战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778000"/>
            <a:ext cx="4826000" cy="2413000"/>
          </a:xfrm>
          <a:prstGeom prst="roundRect">
            <a:avLst>
              <a:gd name="adj" fmla="val 6315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270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企业内部系统架构复杂，海量业务数据分散存储于不同服务器与独立数据库中，形成了物理与逻辑上的双重隔离。这种分散式存储模式不仅阻碍了信息的实时流转，更导致业务响应速度难以满足市场快速变化的需求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0" y="17780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921500" y="1968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知识壁垒：信息碎片化与滞后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476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行业知识散落在文档、系统与员工经验中，查询效率低且标准不一，新员工上手慢，严重依赖老员工的经验传承。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3238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⏱️ 单次查询耗时：约5分钟 | 📉 信息滞后率：12%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0" y="40005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419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4191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数据孤岛：跨系统协作低效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4699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业务数据分散在ERP、CRM等多系统中，人工跨系统汇总耗时费力，不仅拖慢决策节奏，还极易因人为操作产生数据误差。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546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⏱️ 统计耗时：30-60分钟/次 | ⚠️ 人工误差率：约5%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项目背景与行业挑战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967" r="967"/>
          <a:stretch>
            <a:fillRect/>
          </a:stretch>
        </p:blipFill>
        <p:spPr>
          <a:xfrm>
            <a:off x="762000" y="1651000"/>
            <a:ext cx="5080000" cy="292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895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传统人工模式下，高速公路运营管理依赖大量重复性人工操作，不仅消耗大量时间成本，更因经验依赖导致标准化程度低，难以满足日益增长的精细化管理需求。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23000" y="16510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8796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010400" y="18796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效率瓶颈：耗时冗长，质量参差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4130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人工答疑、方案编制等工作耗时久，数据分析文档平均耗时2小时，方案平均耗时1.5小时。输出质量依赖个人经验，文档格式杂乱，出错率约8%，严重制约业务响应速度。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39370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1656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10400" y="41656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合规风险：流程缺失，隐患难控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46990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应急、养护方案依赖人工经验编写，缺乏统一的处置流程和标准，可能导致处置不当，存在潜在的安全隐患与法律责任风险，难以满足行业监管的高标准要求。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解决方案总体设计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98" r="298"/>
          <a:stretch>
            <a:fillRect/>
          </a:stretch>
        </p:blipFill>
        <p:spPr>
          <a:xfrm>
            <a:off x="762000" y="1524000"/>
            <a:ext cx="3810000" cy="2286000"/>
          </a:xfrm>
          <a:prstGeom prst="roundRect">
            <a:avLst>
              <a:gd name="adj" fmla="val 555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000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三大定性核心目标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445000"/>
            <a:ext cx="3810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45085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知识沉淀标准化：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构建结构化、可迭代、可检索的智慧高速专属行业知识库，实现知识资产化。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181600"/>
            <a:ext cx="3810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52451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数据调用智能化：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支持自然语言指令调取、解析、汇总各类业务数据，打破数据孤岛。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918200"/>
            <a:ext cx="3810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89000" y="59817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业务赋能场景化：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落地智能客服、标准化文档一键直出能力，全面提升业务处理效率。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953000" y="1524000"/>
            <a:ext cx="647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预期业务价值（可量化收益）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953000" y="2159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080000" y="22606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≥87.5%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效率提升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数据分析文档编制</a:t>
            </a:r>
            <a:endParaRPr lang="en-US" sz="14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耗时：2小时 → ≤15分钟，极速出稿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18500" y="2159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445500" y="22606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≥88.9%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效率提升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应急/养护方案编制</a:t>
            </a:r>
            <a:endParaRPr lang="en-US" sz="14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耗时：1.5小时 → ≤10分钟，快速响应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953000" y="3556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080000" y="36576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≥80%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效率提升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业务规范查询效率</a:t>
            </a:r>
            <a:endParaRPr lang="en-US" sz="14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耗时：5分钟 → ≤1分钟，精准检索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318500" y="3556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445500" y="36576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≥98%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常规问题问答响应</a:t>
            </a:r>
            <a:endParaRPr lang="en-US" sz="14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覆盖98%常见业务咨询，即时回复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953000" y="4953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080000" y="50546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≥95%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复杂问题深度解答</a:t>
            </a:r>
            <a:endParaRPr lang="en-US" sz="14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基于知识库深度推理，提供专业建议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318500" y="4953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445500" y="50546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↓60%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工单压降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常规咨询类工单量</a:t>
            </a:r>
            <a:endParaRPr lang="en-US" sz="14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智能分流替代人工，释放客服资源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解决方案总体设计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388" b="388"/>
          <a:stretch>
            <a:fillRect/>
          </a:stretch>
        </p:blipFill>
        <p:spPr>
          <a:xfrm>
            <a:off x="762000" y="1651000"/>
            <a:ext cx="4064000" cy="3048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1D5DB">
                <a:alpha val="50000"/>
              </a:srgbClr>
            </a:solidFill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953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系统架构全景视图，清晰展示从基础设施到应用接入的六层逻辑结构，实现业务与技术的深度融合。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16510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系统总体技术架构解析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334000" y="2413000"/>
            <a:ext cx="60960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4500" y="26416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969000" y="25654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六层架构，分层解耦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构建基础设施、数据、模型、编排、应用、接入六层体系，实现各层级独立演进与灵活扩展，有效降低系统耦合度，支撑业务快速迭代。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334000" y="3708400"/>
            <a:ext cx="60960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4500" y="3937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969000" y="38608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多模融合，智能驱动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集成开源大模型、Embedding向量化、Rerank重排序及OCR识别引擎，打造多模态智能算力底座，精准赋能意图识别、RAG检索增强与数据洞察。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334000" y="5003800"/>
            <a:ext cx="60960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24500" y="52324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969000" y="51562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私有化部署，安全可控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支持本地化部署方案，所有模型推理、数据处理均在企业内网完成，确保核心业务数据不出域，全面满足数据安全与合规监管要求。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解决方案总体设计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9" b="9"/>
          <a:stretch>
            <a:fillRect/>
          </a:stretch>
        </p:blipFill>
        <p:spPr>
          <a:xfrm>
            <a:off x="762000" y="1778000"/>
            <a:ext cx="4826000" cy="29591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2700000" algn="tl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953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系统通过四大核心模块的有机融合，打造了从底层数据支撑到上层智能应用的完整闭环，为智慧高速的数字化转型提供坚实的技术底座与功能保障。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969000" y="1778000"/>
            <a:ext cx="2857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9500" y="1968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540500" y="1968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知识库构建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241300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建立结构化、标准化的行业知识库，完成多源数据清洗、整合与入库，夯实智能应用的数据基础。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953500" y="1778000"/>
            <a:ext cx="2857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1968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525000" y="1968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多源数据调用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144000" y="241300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基于自然语言驱动的智能查询，打破业务系统壁垒，实现跨源数据的实时调取、融合分析与可视化。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969000" y="3937000"/>
            <a:ext cx="2857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9500" y="4127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540500" y="4127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智能问答与文档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59500" y="457200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覆盖智能客服、分析报告、应急方案等场景，自动输出标准化文档，提升业务响应速度与决策效率。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53500" y="3937000"/>
            <a:ext cx="2857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0" y="4127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525000" y="4127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系统管理与权限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144000" y="457200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提供精细化的用户、角色及数据权限管理，支持统一认证与操作审计，全方位保障平台数据安全。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解决方案总体设计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75" b="75"/>
          <a:stretch>
            <a:fillRect/>
          </a:stretch>
        </p:blipFill>
        <p:spPr>
          <a:xfrm>
            <a:off x="762000" y="1651000"/>
            <a:ext cx="4572000" cy="3327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207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图示：集团内网私有化部署逻辑架构，实现应用、模型与数据的物理隔离与安全闭环。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842000" y="1651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2500" y="18796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604000" y="1778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网络物理隔离，杜绝外网访问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应用、模型、数据三区独立组网，仅允许内部访问，切断外部直连通道，从网络层阻断数据外泄风险。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42000" y="3048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500" y="32766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604000" y="3175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全链路权限管控，操作全程留痕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设立独立管理区，实施细粒度身份认证与权限分配，所有操作行为实时审计，确保合规可追溯。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42000" y="4445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2500" y="46736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604000" y="4572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本地闭环推理，禁用外部API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严禁调用外部公有云模型接口，所有AI计算与数据处理均在本地完成，确保核心数据绝对不出域。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842000" y="5842000"/>
            <a:ext cx="5588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969000" y="59436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价值总结：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满足集团严苛的安全合规要求，筑牢企业数字化转型的安全底座。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核心功能深度解析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72" b="72"/>
          <a:stretch>
            <a:fillRect/>
          </a:stretch>
        </p:blipFill>
        <p:spPr>
          <a:xfrm>
            <a:off x="762000" y="1651000"/>
            <a:ext cx="4064000" cy="2946400"/>
          </a:xfrm>
          <a:prstGeom prst="rect">
            <a:avLst/>
          </a:prstGeom>
          <a:noFill/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图示：自动化知识治理全流程泳道图，覆盖从采集到上线的闭环管理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0" y="1651000"/>
            <a:ext cx="622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高速行业知识库构建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207000" y="2286000"/>
            <a:ext cx="622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全流程自动化知识治理体系，将非结构化文档转化为高价值的结构化知识资产。从多源异构数据的批量接入，到智能清洗、语义增强与冲突消解，实现知识的高效沉淀与持续迭代，为业务决策提供坚实的数据支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207000" y="3429000"/>
            <a:ext cx="1981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9400" y="3581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715000" y="3581400"/>
            <a:ext cx="1473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多格式入库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359400" y="4000500"/>
            <a:ext cx="1676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支持Word、PDF、扫描件等异构文档的自动解析与批量导入，打破格式壁垒。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315200" y="3429000"/>
            <a:ext cx="1981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7600" y="3581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823200" y="3581400"/>
            <a:ext cx="1473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智能加工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467600" y="4000500"/>
            <a:ext cx="1676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自动进行OCR识别、冗余清洗与语义分块，将非结构化数据转化为机器可读的向量。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423400" y="3429000"/>
            <a:ext cx="1981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75800" y="3581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931400" y="3581400"/>
            <a:ext cx="1473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冲突裁决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75800" y="4000500"/>
            <a:ext cx="1676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自动识别知识冲突与矛盾点，智能推送人工审核，确保知识的准确性与一致性。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207000" y="4953000"/>
            <a:ext cx="30226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59400" y="5105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715000" y="51054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混合检索引擎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359400" y="5524500"/>
            <a:ext cx="27178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融合“关键词精准匹配+向量语义检索”，兼顾召回率与查询精度，快速定位所需知识。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56600" y="4953000"/>
            <a:ext cx="30226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09000" y="51054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864600" y="51054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全生命周期管控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509000" y="5524500"/>
            <a:ext cx="27178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支持知识版本的创建、回溯与回滚，配合精细化权限管理，保障知识资产安全可控。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核心功能深度解析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模块二：多源数据智能调用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68500"/>
            <a:ext cx="533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平台支持从单条件查询到复杂关联统计的四级自然语言查询能力，实现用户意图与数据洞察的无缝转化，打破技术与业务的沟通壁垒。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84500"/>
            <a:ext cx="5334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276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30734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统一数据字典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前置梳理跨系统数据口径，建立标准化字典库，消除歧义，从源头规避统计错误，确保数据一致性。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3561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1529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Text2SQL 安全围栏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对模型生成的SQL进行语法校验与权限核查，智能拦截恶意注入与全表扫描风险，保障数据库安全。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143500"/>
            <a:ext cx="5334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435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52324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异常数据处理机制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采用“规则标记+人工复核”双重校验，自动识别并标记异常结果，确保输出数据真实可信。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 t="290" b="290"/>
          <a:stretch>
            <a:fillRect/>
          </a:stretch>
        </p:blipFill>
        <p:spPr>
          <a:xfrm>
            <a:off x="6350000" y="2413000"/>
            <a:ext cx="5334000" cy="2540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>
              <a:srgbClr val="000000">
                <a:alpha val="8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350000" y="5207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1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用户只需通过自然语言描述业务需求，系统即可自动完成语义解析、数据源匹配、查询执行与结果可视化，大幅降低数据分析门槛，提升决策效率。”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核心功能深度解析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766" b="1766"/>
          <a:stretch>
            <a:fillRect/>
          </a:stretch>
        </p:blipFill>
        <p:spPr>
          <a:xfrm>
            <a:off x="2286000" y="1397000"/>
            <a:ext cx="3556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7142" b="7142"/>
          <a:stretch>
            <a:fillRect/>
          </a:stretch>
        </p:blipFill>
        <p:spPr>
          <a:xfrm>
            <a:off x="6350000" y="1397000"/>
            <a:ext cx="3556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393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127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4127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智能客服问答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87500" y="45085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覆盖全业务场景的智能答疑，支持上下文多轮对话与人工兜底机制，实现7x24小时业务咨询即时响应。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393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127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48500" y="4127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规范化数据分析文档直出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048500" y="45085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一键生成日报、周报及专项分析报告，支持自定义统计周期与多维数据筛选，自动生成可视化图表。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270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461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5461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标准化应急方案直出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87500" y="58420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结合实时事件与历史案例库，智能匹配并生成合规、差异化的应急处置方案，缩短响应决策时间。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5270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5461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5461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标准化养护方案直出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048500" y="58420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基于设备状态监测与道路病害数据，智能推荐养护重点与周期，自动生成标准化养护实施方案。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核心功能深度解析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30" r="130"/>
          <a:stretch>
            <a:fillRect/>
          </a:stretch>
        </p:blipFill>
        <p:spPr>
          <a:xfrm>
            <a:off x="762000" y="1651000"/>
            <a:ext cx="5334000" cy="24765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2700000" algn="tl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254500"/>
            <a:ext cx="533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图示：从用户提问到标准化文档输出的全链路闭环逻辑，实现人机协同的高效作业。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1651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▍核心流程闭环体系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2222500"/>
            <a:ext cx="1714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349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756400" y="23495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发起指令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自然语言输入需求，支持多模态指令解析与意图识别。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53400" y="2222500"/>
            <a:ext cx="1714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3495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559800" y="23495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意图解析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精准识别用户需求，智能分类问题类型，确定处理路径。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969500" y="2222500"/>
            <a:ext cx="1714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96500" y="2349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0375900" y="23495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信息调取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联动企业知识库与实时数据接口，获取精准支撑信息。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3429000"/>
            <a:ext cx="1714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3556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756400" y="3556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智能仲裁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多源信息交叉校验，剔除矛盾点，确保信息逻辑自洽。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153400" y="3429000"/>
            <a:ext cx="1714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80400" y="3556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559800" y="3556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文档生成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一键生成标准化文档，支持流式输出与格式自定义。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969500" y="3429000"/>
            <a:ext cx="1714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96500" y="35560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0375900" y="3556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审核确认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关键节点强制人工审核，支持内容微调与合规检查。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5" name="Connector 25"/>
          <p:cNvCxnSpPr/>
          <p:nvPr/>
        </p:nvCxnSpPr>
        <p:spPr>
          <a:xfrm rot="-4092">
            <a:off x="762004" y="494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62000" y="5143500"/>
            <a:ext cx="2603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4400" y="5270500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244600" y="5270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强制溯源验证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14400" y="5651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所有回答均标注来源出处，支持跳转原文验证，从源头杜绝信息幻觉，确保内容有据可查。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492500" y="5143500"/>
            <a:ext cx="2603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44900" y="5270500"/>
            <a:ext cx="279400" cy="279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3975100" y="5270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智能分级拒答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3644900" y="5651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对低置信度或不确定问题主动拒答，避免生成误导性内容，保障输出信息的可靠性。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23000" y="5143500"/>
            <a:ext cx="2603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75400" y="5270500"/>
            <a:ext cx="279400" cy="2794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6705600" y="5270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双重交叉校验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375400" y="5651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采用“知识库+实时数据”双重验证机制，对复杂问题进行多维度复核，确保答案准确无误。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953500" y="5143500"/>
            <a:ext cx="2603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105900" y="5270500"/>
            <a:ext cx="279400" cy="2794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9436100" y="5270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合规风控体系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105900" y="5651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敏感内容自动拦截，应急方案强制挂载免责声明，关键输出需经人工审核方可生效。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核心功能深度解析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702" r="702"/>
          <a:stretch>
            <a:fillRect/>
          </a:stretch>
        </p:blipFill>
        <p:spPr>
          <a:xfrm>
            <a:off x="762000" y="1651000"/>
            <a:ext cx="4318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实景应用：道路养护现场的多角色协同作业场景。通过精细化权限管控，确保不同岗位人员仅能访问其权限范围内的业务数据与系统功能，从源头保障作业安全与数据合规。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651000"/>
            <a:ext cx="596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模块四：精细化权限管控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461000" y="2286000"/>
            <a:ext cx="596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基于RBAC模型与组织架构的数据范围控制，构建多层次、可追溯的安全权限体系，实现从功能权限到数据权限的双重保障，确保数据资产安全可控。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461000" y="3302000"/>
            <a:ext cx="18796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3400" y="3454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969000" y="34544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全角色覆盖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613400" y="3873500"/>
            <a:ext cx="1676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涵盖管理层至一线客服，适配全业务链条的10类角色需求。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378700" y="3302000"/>
            <a:ext cx="18796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31100" y="3454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886700" y="34544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精细权限矩阵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531100" y="3873500"/>
            <a:ext cx="1676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细粒度定义知识、数据、配置等功能的操作权限边界。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296400" y="3302000"/>
            <a:ext cx="18796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48800" y="3454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804400" y="34544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三级数据穿透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448800" y="3873500"/>
            <a:ext cx="1676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全路网、分公司、路段三级管控，上级可视下级数据。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461000" y="4889500"/>
            <a:ext cx="2844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13400" y="50419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969000" y="50419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SSO 统一身份认证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613400" y="5461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对接集团单点登录系统，实现一次认证全网通行，提升效率与安全性。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458200" y="4889500"/>
            <a:ext cx="2844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10600" y="50419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966200" y="50419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全程可追溯审计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5461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操作、调用、生成全程留痕，支持历史回溯与合规审计，保障安全。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实施与保障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01" r="101"/>
          <a:stretch>
            <a:fillRect/>
          </a:stretch>
        </p:blipFill>
        <p:spPr>
          <a:xfrm>
            <a:off x="762000" y="1651000"/>
            <a:ext cx="4318000" cy="2882900"/>
          </a:xfrm>
          <a:prstGeom prst="rect">
            <a:avLst/>
          </a:prstGeom>
          <a:noFill/>
          <a:ln w="254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431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以真实的应急响应场景为驱动，坚持“小步快跑、快速迭代”的实施策略。通过分阶段交付，既能快速验证系统价值，又能根据实际反馈灵活调整，确保项目建设与业务需求高度贴合。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1651000"/>
            <a:ext cx="60960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524500" y="1841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核心功能上线（1-13周）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524500" y="2349500"/>
            <a:ext cx="1841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588000" y="2476500"/>
            <a:ext cx="171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建设目标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快速实现核心功能落地，让用户尽早体验系统价值，收集反馈用于迭代优化。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429500" y="2349500"/>
            <a:ext cx="1841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493000" y="2476500"/>
            <a:ext cx="171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关键交付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搭建基础知识库、智能问答系统，实现基础数据查询与分析报告自动生成。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334500" y="2349500"/>
            <a:ext cx="1841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398000" y="2476500"/>
            <a:ext cx="171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第6周完成高频知识入库，第10周上线智能问答，第13周完成一期试点交付。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334000" y="4064000"/>
            <a:ext cx="60960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524500" y="4254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高级功能上线（14-21周）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524500" y="4762500"/>
            <a:ext cx="1841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588000" y="4889500"/>
            <a:ext cx="171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建设目标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深化系统能力，实现复杂场景的智能化处理，构建完整的业务闭环体系。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429500" y="4762500"/>
            <a:ext cx="1841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493000" y="4889500"/>
            <a:ext cx="171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关键交付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上线多源融合查询、应急与养护方案自动生成，部署精细化权限管控体系。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334500" y="4762500"/>
            <a:ext cx="1841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398000" y="4889500"/>
            <a:ext cx="171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第21周完成全量功能上线，系统正式投入全面运营，进入运维保障阶段。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实施与保障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风险评估与应对策略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685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我们对项目全周期进行了前瞻性风险评估，识别出关键潜在挑战，并针对性制定了可落地的应对预案，为项目平稳推进构筑坚实防线。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30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921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知识治理延期风险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365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实施分批入库策略，一期优先完成高频核心的1500份知识库导入，剩余长尾内容分阶段滚动推进，避免因全量治理拖累整体进度。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730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921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21500" y="2921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模型效果未达预期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365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预留2轮模型微调迭代机会，若效果仍不达标则及时收缩非核心功能范围，聚焦高频场景确保核心价值交付。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381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72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4572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跨部门接口配合不足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016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将接口对接纳入集团信息化考核指标，明确责任归属与时间节点；建立周度同步机制，及时解决协同堵点。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381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572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4572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算力资源保障风险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5016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立项即启动资源申请，预留弹性资源池；必要时采用脱敏数据在临时环境进行模型验证，确保研发迭代不中断。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通过系统化的风险预判与兜底方案，构建全方位的项目保障体系，确保项目按期、高质量交付。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实施与保障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23" b="223"/>
          <a:stretch>
            <a:fillRect/>
          </a:stretch>
        </p:blipFill>
        <p:spPr>
          <a:xfrm>
            <a:off x="762000" y="1651000"/>
            <a:ext cx="4064000" cy="241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318000"/>
            <a:ext cx="406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通过数字化转型赋能团队，实现业务流程的自动化与智能化升级。这不仅直接降低了运营成本，更通过数据驱动的决策模式，全面提升了企业的运营效率与核心竞争力，为集团的可持续发展注入强劲动力。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1651000"/>
            <a:ext cx="635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588000" y="18415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▍显著的经济效益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588000" y="22860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年化效益测算约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668万元/年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88000" y="28575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📄 文档编制提效 ~350万 | 📊 数据统计提效 ~133万 | 📝 方案编制提效 ~80万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📞 客服工单下降 ~72万 | 🔍 规范查询提效 ~33万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334000" y="3810000"/>
            <a:ext cx="635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588000" y="40005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▍重要的隐性收益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524500" y="4572000"/>
            <a:ext cx="19685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1500" y="4699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969000" y="4699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质量跃升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651500" y="5143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文档出错率显著下降，答案一致性大幅提升，业务执行更精准。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518400" y="4572000"/>
            <a:ext cx="19685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5400" y="4699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962900" y="4699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合规加固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45400" y="5143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标准化作业流程，降低应急与养护风险，筑牢合规防线。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0" y="4572000"/>
            <a:ext cx="19685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2000" y="4699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969500" y="4699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决策赋能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652000" y="5143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实时数据支撑，辅助科学决策，提升管理响应速度与精度。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826000"/>
            <a:ext cx="1524000" cy="1524000"/>
          </a:xfrm>
          <a:prstGeom prst="ellipse">
            <a:avLst/>
          </a:prstGeom>
          <a:solidFill>
            <a:srgbClr val="22C55E">
              <a:alpha val="15000"/>
            </a:srgbClr>
          </a:solidFill>
          <a:ln cap="flat" cmpd="sng">
            <a:solidFill>
              <a:srgbClr val="0CAC4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651000" y="5588000"/>
            <a:ext cx="762000" cy="762000"/>
          </a:xfrm>
          <a:prstGeom prst="ellipse">
            <a:avLst/>
          </a:prstGeom>
          <a:solidFill>
            <a:srgbClr val="22C55E">
              <a:alpha val="20000"/>
            </a:srgbClr>
          </a:solidFill>
          <a:ln cap="flat" cmpd="sng">
            <a:solidFill>
              <a:srgbClr val="0CAC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445000" y="3175000"/>
            <a:ext cx="762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45000" y="4699000"/>
            <a:ext cx="698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欢迎各位提问与交流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0" y="635000"/>
            <a:ext cx="1270000" cy="1270000"/>
          </a:xfrm>
          <a:prstGeom prst="ellipse">
            <a:avLst/>
          </a:prstGeom>
          <a:solidFill>
            <a:srgbClr val="22C55E">
              <a:alpha val="10000"/>
            </a:srgbClr>
          </a:solidFill>
          <a:ln cap="flat" cmpd="sng">
            <a:solidFill>
              <a:srgbClr val="0CAC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5040</Words>
  <Application>WPS 演示</Application>
  <PresentationFormat/>
  <Paragraphs>365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郭思麟</cp:lastModifiedBy>
  <cp:revision>1</cp:revision>
  <dcterms:created xsi:type="dcterms:W3CDTF">2026-09-04T08:18:48Z</dcterms:created>
  <dcterms:modified xsi:type="dcterms:W3CDTF">2026-09-04T08:18:48Z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{"Label":"1","ContentProducer":"001191110102MACQD9K64010000","ProduceID":"7681589092446227696","ReservedCode1":"","ContentPropagator":"","PropagateID":"","ReservedCode2":""}</vt:lpwstr>
  </property>
  <property fmtid="{D5CDD505-2E9C-101B-9397-08002B2CF9AE}" pid="3" name="ICV">
    <vt:lpwstr>D8A273F073BA413BAAD1B1DDE852AF48_12</vt:lpwstr>
  </property>
  <property fmtid="{D5CDD505-2E9C-101B-9397-08002B2CF9AE}" pid="4" name="KSOProductBuildVer">
    <vt:lpwstr>2052-12.1.0.28043</vt:lpwstr>
  </property>
</Properties>
</file>